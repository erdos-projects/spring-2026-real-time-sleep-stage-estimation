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7901CA-5F5E-48AE-AB25-984B3A3155F1}">
  <a:tblStyle styleId="{AA7901CA-5F5E-48AE-AB25-984B3A315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9"/>
  </p:normalViewPr>
  <p:slideViewPr>
    <p:cSldViewPr snapToGrid="0">
      <p:cViewPr varScale="1">
        <p:scale>
          <a:sx n="127" d="100"/>
          <a:sy n="127" d="100"/>
        </p:scale>
        <p:origin x="192" y="5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a622a2957_1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a622a2957_1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 everyone, today I'll be walking you through our project on automated sleep analysis.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work was done as part of the Erdős Institute Spring 2026 Data Science Bootcamp"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this project we tackled two problems: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classifying sleep stages in real time, and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predicting apnea events before they happen.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16daa0e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16daa0e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motivate this work — roughly 70 million American adults suffer from sleep disorders.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Specifically, poor sleep quality and Obstructive Sleep Apnea are independently linked to cardiovascular disease, cognitive decline, and other chronic conditions.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that in mind, we set two concrete goals: first, build a model that can classify which sleep stage a person is in, in real time.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Second, build a model that can predict an apnea event 10 seconds before it occurs — giving enough lead time for a potential intervention.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622a29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a622a29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our data, we used the DREAMT dataset from PhysioNet. It was collected from 100 participants using smartwatch and polysomnograpy.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dataset includes subject metadata like age and BMI, high-frequency time-series signals, as well as manually annotated sleep stages and apnea events.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622a2957_4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a622a2957_4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modeling, we put the raw signals through several preprocessing steps.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EEG, EOG, and EMG signals, we applied a Fourier Transform over a 25-second window to capture frequency-domain features.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all time-domain signals, we extracted summary statistics using 5-second window binning.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metadata variables were one-hot encoded, and everything was combined into a unified feature set for modeling.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a622a2957_1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a622a2957_1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experimental pipeline was designed as follow: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split our 100 subjects into training, validation and test set.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ran 5-fold cross-validation on the training set for hyperparameter tuning, then retrained using the best configuration, perform model selection on validation set, before final evaluation on the untouched test set.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16daa0ea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16daa0ea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16daa0ea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16daa0ea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16daa0ea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16daa0ea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a622a2957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a622a2957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a622a2957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a622a2957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16daa0eaa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16daa0eaa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a622a2957_4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a622a2957_4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a622a295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a622a295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a622a295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a622a295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a622a2957_4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a622a2957_4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a622a295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a622a295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16daa0ea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16daa0eaa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hysionet.org/content/dreamt/2.1.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8600" y="999350"/>
            <a:ext cx="8436300" cy="1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2"/>
                </a:solidFill>
              </a:rPr>
              <a:t>Towards Automated Sleep Analysis:</a:t>
            </a:r>
            <a:endParaRPr sz="28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2"/>
                </a:solidFill>
              </a:rPr>
              <a:t>Stage Classification and Apnea Prediction</a:t>
            </a:r>
            <a:endParaRPr sz="2800" b="1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 amt="60000"/>
          </a:blip>
          <a:srcRect l="1778" t="6217" b="11445"/>
          <a:stretch/>
        </p:blipFill>
        <p:spPr>
          <a:xfrm>
            <a:off x="-7064" y="4620200"/>
            <a:ext cx="2432025" cy="5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673150" y="2499000"/>
            <a:ext cx="4575600" cy="17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Ye Hong, Vaibhav Thakur, Aiqi Cheng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Spring 2026 Data Science Bootcamp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Erdős Institute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6117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Background &amp; Motivation</a:t>
            </a:r>
            <a:r>
              <a:rPr lang="en"/>
              <a:t>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~70 million U.S. adults have sleep disorders; Obstructive Sleep Apnea (OSA) is among the most prevalent and underdiagnosed.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Poor sleep quality independently elevates risk of chronic disease, cognitive decline, and cardiovascular conditions.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Goal 1</a:t>
            </a:r>
            <a:r>
              <a:rPr lang="en"/>
              <a:t>: Build a model to predict sleep stage real-time.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Goal 2</a:t>
            </a:r>
            <a:r>
              <a:rPr lang="en"/>
              <a:t>: Build a model to predict apnea events 10 seconds in advance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379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58200" y="1152475"/>
            <a:ext cx="9027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We used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DREAMT </a:t>
            </a:r>
            <a:r>
              <a:rPr lang="en" sz="1700"/>
              <a:t>dataset from Physionet </a:t>
            </a:r>
            <a:endParaRPr sz="1700"/>
          </a:p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Collected from 100 participants(May–Sept 2022). </a:t>
            </a:r>
            <a:endParaRPr sz="16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Participants wore an smartwatch throughout an overnight Polysomnography study.</a:t>
            </a:r>
            <a:endParaRPr sz="16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Data:</a:t>
            </a:r>
            <a:endParaRPr/>
          </a:p>
          <a:p>
            <a:pPr marL="914400" lvl="1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○"/>
            </a:pPr>
            <a:r>
              <a:rPr lang="en" sz="1600"/>
              <a:t>Metadata for 100 subjects, e.g. Age, bmi, medical history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Time-series signal (100 Hz), e.g. EEG, EOG, EMG, heart rate, respiratory signals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Sleep stage (manually annotated): Wake, N1, N2, N3, REM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Apnea event (manually annotated)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70" name="Google Shape;70;p15"/>
          <p:cNvSpPr txBox="1"/>
          <p:nvPr/>
        </p:nvSpPr>
        <p:spPr>
          <a:xfrm>
            <a:off x="58200" y="4769450"/>
            <a:ext cx="49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Dataset available at: </a:t>
            </a:r>
            <a:r>
              <a:rPr lang="en" sz="12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https://physionet.org/content/dreamt/2.1.0/</a:t>
            </a:r>
            <a:r>
              <a:rPr lang="en" sz="1200" u="sng">
                <a:solidFill>
                  <a:schemeClr val="dk2"/>
                </a:solidFill>
              </a:rPr>
              <a:t>.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17373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408176" y="1872829"/>
            <a:ext cx="2498400" cy="72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Extract Feature Statistics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(5s window binning)</a:t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3341613" y="3003504"/>
            <a:ext cx="2083500" cy="5829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One-hot encoding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Categorical variables</a:t>
            </a:r>
            <a:endParaRPr sz="1000"/>
          </a:p>
        </p:txBody>
      </p:sp>
      <p:sp>
        <p:nvSpPr>
          <p:cNvPr id="78" name="Google Shape;78;p16"/>
          <p:cNvSpPr/>
          <p:nvPr/>
        </p:nvSpPr>
        <p:spPr>
          <a:xfrm>
            <a:off x="3333351" y="929020"/>
            <a:ext cx="2083500" cy="5718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 sz="900"/>
          </a:p>
        </p:txBody>
      </p:sp>
      <p:sp>
        <p:nvSpPr>
          <p:cNvPr id="79" name="Google Shape;79;p16"/>
          <p:cNvSpPr/>
          <p:nvPr/>
        </p:nvSpPr>
        <p:spPr>
          <a:xfrm>
            <a:off x="4859779" y="1872829"/>
            <a:ext cx="3418200" cy="72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Fourier Transform - EEG, EOG, EMG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(25s window)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3496561" y="3979357"/>
            <a:ext cx="1757100" cy="581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Combined with Metadata</a:t>
            </a:r>
            <a:endParaRPr/>
          </a:p>
        </p:txBody>
      </p:sp>
      <p:cxnSp>
        <p:nvCxnSpPr>
          <p:cNvPr id="81" name="Google Shape;81;p16"/>
          <p:cNvCxnSpPr/>
          <p:nvPr/>
        </p:nvCxnSpPr>
        <p:spPr>
          <a:xfrm flipH="1">
            <a:off x="4370913" y="3659388"/>
            <a:ext cx="8400" cy="27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16"/>
          <p:cNvCxnSpPr/>
          <p:nvPr/>
        </p:nvCxnSpPr>
        <p:spPr>
          <a:xfrm rot="2700000" flipH="1">
            <a:off x="3465259" y="1462077"/>
            <a:ext cx="8485" cy="45735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6"/>
          <p:cNvCxnSpPr/>
          <p:nvPr/>
        </p:nvCxnSpPr>
        <p:spPr>
          <a:xfrm rot="-2788128" flipH="1">
            <a:off x="5347000" y="1462283"/>
            <a:ext cx="8276" cy="4571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6"/>
          <p:cNvCxnSpPr/>
          <p:nvPr/>
        </p:nvCxnSpPr>
        <p:spPr>
          <a:xfrm rot="2611872" flipH="1">
            <a:off x="5209673" y="2576164"/>
            <a:ext cx="8276" cy="45735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6"/>
          <p:cNvCxnSpPr/>
          <p:nvPr/>
        </p:nvCxnSpPr>
        <p:spPr>
          <a:xfrm rot="-2788128" flipH="1">
            <a:off x="3546650" y="2576271"/>
            <a:ext cx="8276" cy="4571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Experimental Pipeline</a:t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331186" y="1353225"/>
            <a:ext cx="74217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100 subjects are divided into three non-overlapping partitions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2" name="Google Shape;92;p17"/>
          <p:cNvGrpSpPr/>
          <p:nvPr/>
        </p:nvGrpSpPr>
        <p:grpSpPr>
          <a:xfrm>
            <a:off x="311700" y="1820013"/>
            <a:ext cx="8324100" cy="572700"/>
            <a:chOff x="311700" y="1708650"/>
            <a:chExt cx="8324100" cy="572700"/>
          </a:xfrm>
        </p:grpSpPr>
        <p:sp>
          <p:nvSpPr>
            <p:cNvPr id="93" name="Google Shape;93;p17"/>
            <p:cNvSpPr/>
            <p:nvPr/>
          </p:nvSpPr>
          <p:spPr>
            <a:xfrm>
              <a:off x="311700" y="1708650"/>
              <a:ext cx="5172300" cy="572700"/>
            </a:xfrm>
            <a:prstGeom prst="rect">
              <a:avLst/>
            </a:prstGeom>
            <a:solidFill>
              <a:srgbClr val="93C47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Training Set (5-fold CV for hyperparameter tuning)</a:t>
              </a:r>
              <a:br>
                <a:rPr lang="en"/>
              </a:br>
              <a:r>
                <a:rPr lang="en"/>
                <a:t>64%</a:t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5484000" y="1708650"/>
              <a:ext cx="1518600" cy="5727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Val Set 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16%</a:t>
              </a: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7002600" y="1708650"/>
              <a:ext cx="1633200" cy="572700"/>
            </a:xfrm>
            <a:prstGeom prst="rect">
              <a:avLst/>
            </a:prstGeom>
            <a:solidFill>
              <a:srgbClr val="E0666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Test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20%</a:t>
              </a:r>
              <a:endParaRPr/>
            </a:p>
          </p:txBody>
        </p:sp>
      </p:grpSp>
      <p:grpSp>
        <p:nvGrpSpPr>
          <p:cNvPr id="96" name="Google Shape;96;p17"/>
          <p:cNvGrpSpPr/>
          <p:nvPr/>
        </p:nvGrpSpPr>
        <p:grpSpPr>
          <a:xfrm>
            <a:off x="226401" y="3133616"/>
            <a:ext cx="8743135" cy="695700"/>
            <a:chOff x="311700" y="3427597"/>
            <a:chExt cx="8743135" cy="695700"/>
          </a:xfrm>
        </p:grpSpPr>
        <p:sp>
          <p:nvSpPr>
            <p:cNvPr id="97" name="Google Shape;97;p17"/>
            <p:cNvSpPr/>
            <p:nvPr/>
          </p:nvSpPr>
          <p:spPr>
            <a:xfrm>
              <a:off x="311700" y="3427597"/>
              <a:ext cx="1136700" cy="695700"/>
            </a:xfrm>
            <a:prstGeom prst="rect">
              <a:avLst/>
            </a:prstGeom>
            <a:solidFill>
              <a:srgbClr val="CFE2F3">
                <a:alpha val="55659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Full Dataset</a:t>
              </a: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1832987" y="3427597"/>
              <a:ext cx="1136700" cy="6957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Hold-Out Split</a:t>
              </a: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3354274" y="3427597"/>
              <a:ext cx="1136700" cy="6957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5-Fold CV</a:t>
              </a: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4875561" y="3427597"/>
              <a:ext cx="1136700" cy="695700"/>
            </a:xfrm>
            <a:prstGeom prst="rect">
              <a:avLst/>
            </a:prstGeom>
            <a:solidFill>
              <a:srgbClr val="6FA8DC">
                <a:alpha val="8431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Best Config Found</a:t>
              </a: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6396848" y="3427597"/>
              <a:ext cx="1136700" cy="695700"/>
            </a:xfrm>
            <a:prstGeom prst="rect">
              <a:avLst/>
            </a:prstGeom>
            <a:solidFill>
              <a:srgbClr val="6FA8D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Retrain on Train</a:t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7918135" y="3427597"/>
              <a:ext cx="1136700" cy="695700"/>
            </a:xfrm>
            <a:prstGeom prst="rect">
              <a:avLst/>
            </a:prstGeom>
            <a:solidFill>
              <a:srgbClr val="3D85C6">
                <a:alpha val="96080"/>
              </a:srgb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Test Set Evaluation</a:t>
              </a:r>
              <a:endParaRPr/>
            </a:p>
          </p:txBody>
        </p:sp>
        <p:cxnSp>
          <p:nvCxnSpPr>
            <p:cNvPr id="103" name="Google Shape;103;p17"/>
            <p:cNvCxnSpPr>
              <a:stCxn id="97" idx="3"/>
              <a:endCxn id="98" idx="1"/>
            </p:cNvCxnSpPr>
            <p:nvPr/>
          </p:nvCxnSpPr>
          <p:spPr>
            <a:xfrm>
              <a:off x="1448400" y="3775447"/>
              <a:ext cx="3846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4" name="Google Shape;104;p17"/>
            <p:cNvCxnSpPr>
              <a:stCxn id="98" idx="3"/>
              <a:endCxn id="99" idx="1"/>
            </p:cNvCxnSpPr>
            <p:nvPr/>
          </p:nvCxnSpPr>
          <p:spPr>
            <a:xfrm>
              <a:off x="2969687" y="3775447"/>
              <a:ext cx="3846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5" name="Google Shape;105;p17"/>
            <p:cNvCxnSpPr>
              <a:stCxn id="99" idx="3"/>
              <a:endCxn id="100" idx="1"/>
            </p:cNvCxnSpPr>
            <p:nvPr/>
          </p:nvCxnSpPr>
          <p:spPr>
            <a:xfrm>
              <a:off x="4490974" y="3775447"/>
              <a:ext cx="3846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6" name="Google Shape;106;p17"/>
            <p:cNvCxnSpPr>
              <a:stCxn id="100" idx="3"/>
              <a:endCxn id="101" idx="1"/>
            </p:cNvCxnSpPr>
            <p:nvPr/>
          </p:nvCxnSpPr>
          <p:spPr>
            <a:xfrm>
              <a:off x="6012261" y="3775447"/>
              <a:ext cx="3846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" name="Google Shape;107;p17"/>
            <p:cNvCxnSpPr>
              <a:stCxn id="101" idx="3"/>
              <a:endCxn id="102" idx="1"/>
            </p:cNvCxnSpPr>
            <p:nvPr/>
          </p:nvCxnSpPr>
          <p:spPr>
            <a:xfrm>
              <a:off x="7533548" y="3775447"/>
              <a:ext cx="3846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1: Sleep stage prediction</a:t>
            </a:r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</a:t>
            </a:r>
            <a:r>
              <a:rPr lang="en" b="1"/>
              <a:t>classify 5 sleep stages (Wake, N1, N2, N3, REM)</a:t>
            </a:r>
            <a:r>
              <a:rPr lang="en"/>
              <a:t> at each time step using PSG signals, wearable device signals and subject metadata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Metric: </a:t>
            </a:r>
            <a:r>
              <a:rPr lang="en" b="1"/>
              <a:t>Macro F1</a:t>
            </a:r>
            <a:r>
              <a:rPr lang="en"/>
              <a:t> – equal importance across all stages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Challenges: 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Large subject variability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Class imbalance and underrepresented transient stages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50" y="1152475"/>
            <a:ext cx="3320601" cy="332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 rotWithShape="1">
          <a:blip r:embed="rId4">
            <a:alphaModFix/>
          </a:blip>
          <a:srcRect t="10241"/>
          <a:stretch/>
        </p:blipFill>
        <p:spPr>
          <a:xfrm>
            <a:off x="4419625" y="877951"/>
            <a:ext cx="4606501" cy="1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 rotWithShape="1">
          <a:blip r:embed="rId5">
            <a:alphaModFix/>
          </a:blip>
          <a:srcRect t="9453"/>
          <a:stretch/>
        </p:blipFill>
        <p:spPr>
          <a:xfrm>
            <a:off x="4402675" y="2195451"/>
            <a:ext cx="4640399" cy="13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 rotWithShape="1">
          <a:blip r:embed="rId6">
            <a:alphaModFix/>
          </a:blip>
          <a:srcRect t="8792"/>
          <a:stretch/>
        </p:blipFill>
        <p:spPr>
          <a:xfrm>
            <a:off x="4419625" y="3534751"/>
            <a:ext cx="4606500" cy="136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- training procedures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311700" y="11371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2099300" y="1137125"/>
            <a:ext cx="33081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Feature Engineering: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reduce numerical precision for less noise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EEG features: relative band-power + cross-band ratios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Lag temporal features for dominant signals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5521850" y="1137125"/>
            <a:ext cx="35046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Tabular Models (4Fold CV) hyperparameter search + class weights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Logistic Regression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XGBoost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LightGBM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192000" y="2272200"/>
            <a:ext cx="20637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Preprocessed raw data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Dataset loader train/val/test split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2369450" y="3359575"/>
            <a:ext cx="2767800" cy="7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Standard scaling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Load dataset into fixed-length sequences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5521850" y="3158600"/>
            <a:ext cx="3146100" cy="12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Training sequence models with iterative tunning and early stopping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BiLSTM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LSTM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CNN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34" name="Google Shape;134;p20"/>
          <p:cNvCxnSpPr>
            <a:endCxn id="129" idx="1"/>
          </p:cNvCxnSpPr>
          <p:nvPr/>
        </p:nvCxnSpPr>
        <p:spPr>
          <a:xfrm rot="10800000" flipH="1">
            <a:off x="1239800" y="1766675"/>
            <a:ext cx="859500" cy="49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" name="Google Shape;135;p20"/>
          <p:cNvCxnSpPr>
            <a:endCxn id="132" idx="1"/>
          </p:cNvCxnSpPr>
          <p:nvPr/>
        </p:nvCxnSpPr>
        <p:spPr>
          <a:xfrm>
            <a:off x="1201550" y="3103375"/>
            <a:ext cx="1167900" cy="62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" name="Google Shape;136;p20"/>
          <p:cNvCxnSpPr/>
          <p:nvPr/>
        </p:nvCxnSpPr>
        <p:spPr>
          <a:xfrm>
            <a:off x="4847525" y="1295875"/>
            <a:ext cx="58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" name="Google Shape;137;p20"/>
          <p:cNvCxnSpPr/>
          <p:nvPr/>
        </p:nvCxnSpPr>
        <p:spPr>
          <a:xfrm rot="10800000" flipH="1">
            <a:off x="4831525" y="3359575"/>
            <a:ext cx="6000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Metrics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6458925" y="1152475"/>
            <a:ext cx="2373300" cy="34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144" name="Google Shape;144;p21"/>
          <p:cNvGraphicFramePr/>
          <p:nvPr/>
        </p:nvGraphicFramePr>
        <p:xfrm>
          <a:off x="6128788" y="1074900"/>
          <a:ext cx="1999775" cy="3770730"/>
        </p:xfrm>
        <a:graphic>
          <a:graphicData uri="http://schemas.openxmlformats.org/drawingml/2006/table">
            <a:tbl>
              <a:tblPr>
                <a:noFill/>
                <a:tableStyleId>{AA7901CA-5F5E-48AE-AB25-984B3A3155F1}</a:tableStyleId>
              </a:tblPr>
              <a:tblGrid>
                <a:gridCol w="73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Model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Best Parameter 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xgb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/>
                        <a:t>n_estimators = 630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/>
                        <a:t>max_depth = 6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learning_rate = 0.02685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lgb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n_estimators=507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learning_rate=0.0288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num_leaves=55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max_depth=6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LSTM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seq_len=30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lr=0.0005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hidden_dim=32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BiLSTM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seq_len=10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lr=0.001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hidden_dim=32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CNN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seq_len=30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lr=0.0005</a:t>
                      </a:r>
                      <a:endParaRPr sz="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channels=[32,64,64]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lgr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regularization=100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5"/>
            <a:ext cx="5972424" cy="39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Test: Ensemble xgb + lgb</a:t>
            </a:r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311700" y="1596900"/>
            <a:ext cx="8520600" cy="29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467750" y="942000"/>
            <a:ext cx="49812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y_prob_xgb = xgb_model.predict_proba(X_test)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y_prob_lgb = lgb_model.predict_proba(X_test)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y_pred_ens = </a:t>
            </a:r>
            <a:r>
              <a:rPr lang="en" sz="11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rPr>
              <a:t>np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.argmax(y_prob_xgb * 0.5 + y_prob_lgb * 0.5, axis=1)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50" y="1596888"/>
            <a:ext cx="5412937" cy="24115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22"/>
          <p:cNvGraphicFramePr/>
          <p:nvPr/>
        </p:nvGraphicFramePr>
        <p:xfrm>
          <a:off x="199150" y="4122625"/>
          <a:ext cx="8104250" cy="792420"/>
        </p:xfrm>
        <a:graphic>
          <a:graphicData uri="http://schemas.openxmlformats.org/drawingml/2006/table">
            <a:tbl>
              <a:tblPr>
                <a:noFill/>
                <a:tableStyleId>{AA7901CA-5F5E-48AE-AB25-984B3A3155F1}</a:tableStyleId>
              </a:tblPr>
              <a:tblGrid>
                <a:gridCol w="162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LightGBM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Ensemble 50/50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Ens + mode5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F1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0.6565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0.6579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0.6593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0.6658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5" name="Google Shape;155;p22"/>
          <p:cNvSpPr txBox="1"/>
          <p:nvPr/>
        </p:nvSpPr>
        <p:spPr>
          <a:xfrm>
            <a:off x="6103800" y="983100"/>
            <a:ext cx="2642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kernel = 5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window = y[i-kernel//2 : i + kernel//2]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y[i] = max(Counter(window).values())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4">
            <a:alphaModFix/>
          </a:blip>
          <a:srcRect l="56395" t="6472"/>
          <a:stretch/>
        </p:blipFill>
        <p:spPr>
          <a:xfrm>
            <a:off x="5940111" y="1707350"/>
            <a:ext cx="2577639" cy="2263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>
            <a:spLocks noGrp="1"/>
          </p:cNvSpPr>
          <p:nvPr>
            <p:ph type="title"/>
          </p:nvPr>
        </p:nvSpPr>
        <p:spPr>
          <a:xfrm>
            <a:off x="452100" y="2346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Goal 2: Future apnea event prediction</a:t>
            </a:r>
            <a:endParaRPr sz="27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311700" y="22167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grpSp>
        <p:nvGrpSpPr>
          <p:cNvPr id="167" name="Google Shape;167;p24"/>
          <p:cNvGrpSpPr/>
          <p:nvPr/>
        </p:nvGrpSpPr>
        <p:grpSpPr>
          <a:xfrm>
            <a:off x="4060700" y="803511"/>
            <a:ext cx="4441724" cy="3012500"/>
            <a:chOff x="4603125" y="1515475"/>
            <a:chExt cx="4441724" cy="3012500"/>
          </a:xfrm>
        </p:grpSpPr>
        <p:pic>
          <p:nvPicPr>
            <p:cNvPr id="168" name="Google Shape;168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03125" y="1959275"/>
              <a:ext cx="4441724" cy="256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24"/>
            <p:cNvSpPr txBox="1"/>
            <p:nvPr/>
          </p:nvSpPr>
          <p:spPr>
            <a:xfrm>
              <a:off x="4629061" y="1515475"/>
              <a:ext cx="4275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Stratified split by apnea severity</a:t>
              </a:r>
              <a:endParaRPr sz="1600">
                <a:solidFill>
                  <a:schemeClr val="dk1"/>
                </a:solidFill>
              </a:endParaRPr>
            </a:p>
          </p:txBody>
        </p:sp>
      </p:grpSp>
      <p:grpSp>
        <p:nvGrpSpPr>
          <p:cNvPr id="170" name="Google Shape;170;p24"/>
          <p:cNvGrpSpPr/>
          <p:nvPr/>
        </p:nvGrpSpPr>
        <p:grpSpPr>
          <a:xfrm>
            <a:off x="504775" y="854106"/>
            <a:ext cx="2844225" cy="2885705"/>
            <a:chOff x="766425" y="1731945"/>
            <a:chExt cx="2844225" cy="2885705"/>
          </a:xfrm>
        </p:grpSpPr>
        <p:pic>
          <p:nvPicPr>
            <p:cNvPr id="171" name="Google Shape;171;p24"/>
            <p:cNvPicPr preferRelativeResize="0"/>
            <p:nvPr/>
          </p:nvPicPr>
          <p:blipFill rotWithShape="1">
            <a:blip r:embed="rId4">
              <a:alphaModFix/>
            </a:blip>
            <a:srcRect l="67407" t="11740" b="13432"/>
            <a:stretch/>
          </p:blipFill>
          <p:spPr>
            <a:xfrm>
              <a:off x="766425" y="1731950"/>
              <a:ext cx="2844225" cy="288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4"/>
            <p:cNvSpPr/>
            <p:nvPr/>
          </p:nvSpPr>
          <p:spPr>
            <a:xfrm>
              <a:off x="1123113" y="1731945"/>
              <a:ext cx="2130900" cy="43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Class Imbalance</a:t>
              </a:r>
              <a:endParaRPr sz="1600"/>
            </a:p>
          </p:txBody>
        </p:sp>
      </p:grpSp>
      <p:sp>
        <p:nvSpPr>
          <p:cNvPr id="173" name="Google Shape;173;p24"/>
          <p:cNvSpPr txBox="1"/>
          <p:nvPr/>
        </p:nvSpPr>
        <p:spPr>
          <a:xfrm>
            <a:off x="573225" y="3942200"/>
            <a:ext cx="7455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Apnea: no apnea ~ 1:7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Apnea frequency: train set 0.133, validation set 0.097, test set 0.127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rank</a:t>
            </a:r>
            <a:endParaRPr/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749" y="329225"/>
            <a:ext cx="6161850" cy="477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85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 features based on their point-biserial correlation and mutual information with target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5238525" y="137781"/>
            <a:ext cx="2552700" cy="35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Top 30 Features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removal</a:t>
            </a:r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658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Examine feature correlation → remove feature pairs with correlation &gt; 0.9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Examine feature variance → drop near-zero variance features with low ranking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 :127 → 67 time-series features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540" y="0"/>
            <a:ext cx="512447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5308725" y="329231"/>
            <a:ext cx="2552700" cy="35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Feature Correlation matrix</a:t>
            </a:r>
            <a:endParaRPr sz="1000"/>
          </a:p>
        </p:txBody>
      </p:sp>
      <p:sp>
        <p:nvSpPr>
          <p:cNvPr id="190" name="Google Shape;190;p26"/>
          <p:cNvSpPr/>
          <p:nvPr/>
        </p:nvSpPr>
        <p:spPr>
          <a:xfrm>
            <a:off x="3943100" y="597325"/>
            <a:ext cx="867900" cy="39183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4811000" y="4310725"/>
            <a:ext cx="3637500" cy="8370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LightGBM with various feature lag</a:t>
            </a:r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body" idx="1"/>
          </p:nvPr>
        </p:nvSpPr>
        <p:spPr>
          <a:xfrm>
            <a:off x="3342925" y="4570800"/>
            <a:ext cx="29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75s feature lag is the best</a:t>
            </a:r>
            <a:endParaRPr/>
          </a:p>
        </p:txBody>
      </p:sp>
      <p:pic>
        <p:nvPicPr>
          <p:cNvPr id="198" name="Google Shape;19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00" y="1752900"/>
            <a:ext cx="8417300" cy="253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>
            <a:spLocks noGrp="1"/>
          </p:cNvSpPr>
          <p:nvPr>
            <p:ph type="body" idx="1"/>
          </p:nvPr>
        </p:nvSpPr>
        <p:spPr>
          <a:xfrm>
            <a:off x="311700" y="1133325"/>
            <a:ext cx="8520600" cy="3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AUC-ROC=0.786, AUC-PR=0.467, Accuracy= 0.88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204" name="Google Shape;204;p28"/>
          <p:cNvGraphicFramePr/>
          <p:nvPr/>
        </p:nvGraphicFramePr>
        <p:xfrm>
          <a:off x="2524650" y="1847275"/>
          <a:ext cx="3807750" cy="1981050"/>
        </p:xfrm>
        <a:graphic>
          <a:graphicData uri="http://schemas.openxmlformats.org/drawingml/2006/table">
            <a:tbl>
              <a:tblPr>
                <a:noFill/>
                <a:tableStyleId>{AA7901CA-5F5E-48AE-AB25-984B3A3155F1}</a:tableStyleId>
              </a:tblPr>
              <a:tblGrid>
                <a:gridCol w="165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apnea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apnea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test metrics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Sleep stage:</a:t>
            </a:r>
            <a:endParaRPr sz="11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main limitation of real-time sleep stage prediction comes from </a:t>
            </a:r>
            <a:r>
              <a:rPr lang="en" sz="1600" b="1"/>
              <a:t>class imbalance and ambiguous transitions between stages</a:t>
            </a:r>
            <a:r>
              <a:rPr lang="en" sz="1600"/>
              <a:t>, rather than model complexity. Stage boundaries are inherently noisy, even with advanced PSG measurements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Future direction: </a:t>
            </a:r>
            <a:r>
              <a:rPr lang="en" sz="1600" b="1"/>
              <a:t>improve per-stage discrimination, </a:t>
            </a:r>
            <a:r>
              <a:rPr lang="en" sz="1600"/>
              <a:t>and combine models strategically for a system reliable overall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Apnea event: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75s lag of top features yielded the strongest performance of LightGBM, which suggested that </a:t>
            </a:r>
            <a:r>
              <a:rPr lang="en" sz="1600" b="1"/>
              <a:t>extended temporal context is critical</a:t>
            </a:r>
            <a:r>
              <a:rPr lang="en" sz="1600"/>
              <a:t> for anticipating breathing disruptions.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Future direction: apply LSTM or Transformer to include longer context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1163</Words>
  <Application>Microsoft Macintosh PowerPoint</Application>
  <PresentationFormat>On-screen Show (16:9)</PresentationFormat>
  <Paragraphs>181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Roboto</vt:lpstr>
      <vt:lpstr>Courier New</vt:lpstr>
      <vt:lpstr>Arial</vt:lpstr>
      <vt:lpstr>Simple Light</vt:lpstr>
      <vt:lpstr>PowerPoint Presentation</vt:lpstr>
      <vt:lpstr>Background</vt:lpstr>
      <vt:lpstr>Dataset</vt:lpstr>
      <vt:lpstr>Preprocessing</vt:lpstr>
      <vt:lpstr>End-to-End Experimental Pipeline</vt:lpstr>
      <vt:lpstr>Goal 1: Sleep stage prediction</vt:lpstr>
      <vt:lpstr>EDA</vt:lpstr>
      <vt:lpstr>Models - training procedures</vt:lpstr>
      <vt:lpstr>Validation Metrics</vt:lpstr>
      <vt:lpstr>Test: Ensemble xgb + lgb</vt:lpstr>
      <vt:lpstr>Goal 2: Future apnea event prediction</vt:lpstr>
      <vt:lpstr>EDA</vt:lpstr>
      <vt:lpstr>Feature rank</vt:lpstr>
      <vt:lpstr>Feature removal</vt:lpstr>
      <vt:lpstr>LightGBM with various feature lag</vt:lpstr>
      <vt:lpstr>Final test metrics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Mary Hong</cp:lastModifiedBy>
  <cp:revision>3</cp:revision>
  <dcterms:modified xsi:type="dcterms:W3CDTF">2026-03-26T03:33:05Z</dcterms:modified>
</cp:coreProperties>
</file>